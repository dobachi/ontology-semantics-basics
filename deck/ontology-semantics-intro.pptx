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6D0BA5C1-51A0-4E2B-9B7E-0B7A5C000001}">
  <a:tblStyle styleId="{6D0BA5C1-51A0-4E2B-9B7E-0B7A5C000001}" styleName="Dobashi Simple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rgbClr val="D5DBD8"/>
              </a:solidFill>
            </a:ln>
          </a:bottom>
          <a:insideH>
            <a:ln w="6350" cmpd="sng">
              <a:solidFill>
                <a:srgbClr val="D5DBD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ajor"/>
        <a:schemeClr val="tx1"/>
      </a:tcTxStyle>
      <a:tcStyle>
        <a:tcBdr>
          <a:bottom>
            <a:ln w="15875" cmpd="sng">
              <a:solidFill>
                <a:srgbClr val="0B7A5C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初めてこの分野に触れる人向けの説明資料。構成は調査報告の章立てに沿う。詳細と出典は調査報告にある。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同じ名前で違うものを指す場合の例。説明用の例であり、特定の出典はない。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意味の定義が話題になる二つの理由（筆者の整理）。組織をまたぐ共有と、AI がデータを読むこと。どちらも、意味をあらかじめ定義して機械に渡すことを求める。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意味の三角形と四つの言葉。データモデルは記号の並べ方、セマンティクスは記号が何を表し何を指すか、オントロジーは概念の書き表し、標準化はそれを組織間でそろえること。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意味の三角形と意味の 4 段階の対応（筆者の整理）。1 段目は記号の形だけを決める。2 段目は記号と概念を結ぶ。3、4 段目は概念の中身を書く。概念と対象の対応は、どの段でも機械には渡らない。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データモデルとメタデータの標準が、何をそろえるか。左は項目の並びや型を決める。右は項目の名前が何を指すかを決める。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ドメインオントロジーと業界標準の見取り図。概念と関係を定義するもの、言葉や項目をそろえるもの、やり取りの形を決めるものが混ざっている。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部の見取り図。このあとのスライドは、この表の順に並ぶ。知識グラフが 1 枚、Palantir が 2 枚、分析系の経緯が 1 枚、OSI と Apache Ossie が 2 枚、OKF が 1 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Palantir の Ontology の例（航空業界）。箱がオブジェクト型、矢印がリンク型。これに、アクションや関数といった動的な要素が加わる。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 年 9 月から 2026 年 7 月の約 10 か月に七つの出来事が続いた。OSI の発表、MetricFlow のオープンソース化、OSI 仕様の公開、Databricks の一般提供、OKF の発表、Ossie の Apache Incubator 入り、OKF の 0.2 版。根拠は当事者の発表で、採用の実績は評価していない。「複雑だから RDF を避けた」と述べた当事者は見つかっていない。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近づいているという評価は筆者の考察。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Knowledge Format（OKF）は Google Cloud が 2026 年 6 月に発表した。分析系の延長にあり、意味の 4 段階では 1 段目を最小限に、2 段目と 3 段目をごく一部だけ備える、というのは筆者の考察。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欧州相互運用性フレームワークの相互運用性モデル。この資料が扱うのは、意味的な層である。日本の ODS-RAM も、4 レイヤの一つにセマンティクスレイヤを置く。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規範の置き方の移り変わり。2024-1 版はメッセージを JSON-LD として扱うことを求めた。2025-1 版は JSON Schema に合うことを求め、JSON-LD の処理を任意にした。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データスペースプロトコルと ODS が、意味の 4 段階のどこを規範に置くか。プロトコルは 1 段目、ODS は 2 段目の RDF を規範に置く。ODS の OWL は設計思想の文書が採用を述べるもので、規範的な要件は確認できていない。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ODS のオープンソース実装における意味の扱い。オントロジーは二層に分かれる。意味定義と API 定義から、AI アプリケーションが使う MCP ツールを生成する。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意味の 4 段階と共有の範囲による見取り図（筆者の整理）。2 段目以上を規範に置くか設計思想に掲げる取り組みは、組織をまたぐ側に集まっている。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課題から候補を選ぶ木。W3C の勧告は、形式的な意味の水準をデータと用途に合うように選ぶこと、共有された語彙を再利用することを勧めている。組織をまたぐ場合は相手と同じ取り決めが要る。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選び始める前に確かめること: 相手が「オントロジー」をどの意味で使っているか。使える既存の語彙がないか。候補は一つに決めず、組み合わせて使う。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523744"/>
            <a:ext cx="10509199" cy="142646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4169664"/>
            <a:ext cx="10509199" cy="73152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ule"/>
          <p:cNvSpPr/>
          <p:nvPr userDrawn="1"/>
        </p:nvSpPr>
        <p:spPr>
          <a:xfrm>
            <a:off x="841248" y="239572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Presenter"/>
          <p:cNvSpPr>
            <a:spLocks noGrp="1"/>
          </p:cNvSpPr>
          <p:nvPr>
            <p:ph type="body" sz="quarter" idx="13"/>
          </p:nvPr>
        </p:nvSpPr>
        <p:spPr>
          <a:xfrm>
            <a:off x="841248" y="5029200"/>
            <a:ext cx="10509199" cy="109728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20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作者、日付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19072"/>
            <a:ext cx="10509199" cy="4572000"/>
          </a:xfr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8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889504"/>
            <a:ext cx="10509199" cy="13716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22"/>
          </p:nvPr>
        </p:nvSpPr>
        <p:spPr>
          <a:xfrm>
            <a:off x="841248" y="1188720"/>
            <a:ext cx="10509199" cy="146304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8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ja-JP"/>
              <a:t>00</a:t>
            </a:r>
          </a:p>
        </p:txBody>
      </p:sp>
      <p:sp>
        <p:nvSpPr>
          <p:cNvPr id="8" name="Rule"/>
          <p:cNvSpPr/>
          <p:nvPr userDrawn="1"/>
        </p:nvSpPr>
        <p:spPr>
          <a:xfrm>
            <a:off x="841248" y="276148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1719072"/>
            <a:ext cx="502600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8" y="1719072"/>
            <a:ext cx="502600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メッセージ（濃色）">
    <p:bg>
      <p:bgPr>
        <a:solidFill>
          <a:srgbClr val="0A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1783080"/>
            <a:ext cx="8827727" cy="201168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4041648"/>
            <a:ext cx="8827727" cy="82296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補足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ule"/>
          <p:cNvSpPr/>
          <p:nvPr userDrawn="1"/>
        </p:nvSpPr>
        <p:spPr>
          <a:xfrm>
            <a:off x="841248" y="3904488"/>
            <a:ext cx="960120" cy="41148"/>
          </a:xfrm>
          <a:prstGeom prst="rect">
            <a:avLst/>
          </a:prstGeom>
          <a:solidFill>
            <a:srgbClr val="7FD1B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1783080"/>
            <a:ext cx="8827727" cy="201168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041648"/>
            <a:ext cx="8827727" cy="82296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補足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ule"/>
          <p:cNvSpPr/>
          <p:nvPr userDrawn="1"/>
        </p:nvSpPr>
        <p:spPr>
          <a:xfrm>
            <a:off x="841248" y="390448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43400" y="1719072"/>
            <a:ext cx="7007047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1719072"/>
            <a:ext cx="324612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ja-JP"/>
              <a:t>見出し</a:t>
            </a:r>
          </a:p>
          <a:p>
            <a:pPr lvl="1"/>
            <a:r>
              <a:rPr lang="ja-JP"/>
              <a:t>箇条書き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図と説明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248" y="5212080"/>
            <a:ext cx="10509199" cy="1143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ja-JP"/>
              <a:t>見出し</a:t>
            </a:r>
          </a:p>
          <a:p>
            <a:pPr lvl="1"/>
            <a:r>
              <a:rPr lang="ja-JP"/>
              <a:t>箇条書き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"/>
          <p:cNvSpPr>
            <a:spLocks noGrp="1"/>
          </p:cNvSpPr>
          <p:nvPr>
            <p:ph type="pic" sz="quarter" idx="23"/>
          </p:nvPr>
        </p:nvSpPr>
        <p:spPr>
          <a:xfrm>
            <a:off x="841248" y="1719072"/>
            <a:ext cx="10509199" cy="3383280"/>
          </a:xfr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ja-JP"/>
              <a:t>図</a:t>
            </a:r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  <a:prstGeom prst="rect">
            <a:avLst/>
          </a:prstGeo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19072"/>
            <a:ext cx="10509199" cy="4572000"/>
          </a:xfrm>
          <a:prstGeom prst="rect">
            <a:avLst/>
          </a:prstGeo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5727" y="6437376"/>
            <a:ext cx="2926080" cy="274320"/>
          </a:xfrm>
          <a:prstGeom prst="rect">
            <a:avLst/>
          </a:prstGeo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807" y="6437376"/>
            <a:ext cx="548640" cy="274320"/>
          </a:xfrm>
          <a:prstGeom prst="rect">
            <a:avLst/>
          </a:prstGeo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7"/>
    <p:sldLayoutId id="2147483656" r:id="rId8"/>
    <p:sldLayoutId id="2147483657" r:id="rId9"/>
    <p:sldLayoutId id="2147483658" r:id="rId10"/>
    <p:sldLayoutId id="2147483653" r:id="rId5"/>
  </p:sldLayoutIdLst>
  <p:txStyles>
    <p:titleStyle>
      <a:lvl1pPr marL="0" indent="0" algn="l">
        <a:spcBef>
          <a:spcPts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>
        <a:spcBef>
          <a:spcPts val="800"/>
        </a:spcBef>
        <a:buClr>
          <a:schemeClr val="tx2"/>
        </a:buClr>
        <a:buFont typeface="Arial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>
        <a:spcBef>
          <a:spcPts val="400"/>
        </a:spcBef>
        <a:buClr>
          <a:schemeClr val="tx2"/>
        </a:buClr>
        <a:buFont typeface="Arial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>
        <a:spcBef>
          <a:spcPts val="300"/>
        </a:spcBef>
        <a:buClr>
          <a:schemeClr val="tx2"/>
        </a:buClr>
        <a:buFont typeface="Arial"/>
        <a:buChar char="–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</p:bodyStyle>
    <p:otherStyle>
      <a:lvl1pPr marL="0" indent="0" algn="l">
        <a:spcBef>
          <a:spcPts val="0"/>
        </a:spcBef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データの「意味」をそろえる技術の全体像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オントロジー・セマンティクス・データモデル標準化 入門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土橋</a:t>
            </a:r>
          </a:p>
          <a:p>
            <a:r>
              <a:t>2026-10-04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何が問題なのか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同じものでも、会社ごとに呼び名が違う</a:t>
            </a:r>
          </a:p>
        </p:txBody>
      </p:sp>
      <p:pic>
        <p:nvPicPr>
          <p:cNvPr id="3" name="Picture Placeholder 2" descr="el-intro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565124"/>
            <a:ext cx="7007047" cy="2879896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名前からは、同じものらしいと見当がつくだけ</a:t>
            </a:r>
          </a:p>
          <a:p>
            <a:pPr lvl="1"/>
            <a:r>
              <a:t>人も AI も、名前だけでは断定できない</a:t>
            </a:r>
          </a:p>
          <a:p>
            <a:pPr lvl="1"/>
            <a:r>
              <a:t>確かにするには、共通の語彙への対応づけが要る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  何が問題なのか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列の名前は説明用の例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名前がそろっても、意味はそろわない</a:t>
            </a:r>
          </a:p>
        </p:txBody>
      </p:sp>
      <p:pic>
        <p:nvPicPr>
          <p:cNvPr id="3" name="Picture Placeholder 2" descr="dk-same-nam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344402"/>
            <a:ext cx="7007047" cy="332134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「重量」はグラムか、キログラムか</a:t>
            </a:r>
          </a:p>
          <a:p>
            <a:pPr lvl="1"/>
            <a:r>
              <a:t>梱包を含む重さか、部品そのものの重さか</a:t>
            </a:r>
          </a:p>
          <a:p>
            <a:pPr lvl="1"/>
            <a:r>
              <a:t>「価格」は税込か、税抜か</a:t>
            </a:r>
          </a:p>
          <a:p>
            <a:pPr lvl="1"/>
            <a:r>
              <a:t>「日付」は発注日か、納品日か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  何が問題なのか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話題になる理由は二つある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どちらも、意味をあらかじめ定義して機械に渡すことを求める</a:t>
            </a:r>
          </a:p>
        </p:txBody>
      </p:sp>
      <p:pic>
        <p:nvPicPr>
          <p:cNvPr id="4" name="Picture Placeholder 3" descr="el-why-now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2202545" y="1719072"/>
            <a:ext cx="7786605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  何が問題なのか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欧州相互運用性フレームワーク (2017)、IPA ODS-RAM、Databricks (2026)。AI の推測が安定しないという点は筆者の見方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整理の軸と四つの言葉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この資料は五つの軸で整理する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  整理の軸と四つの言葉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調査報告の「この報告書で使う整理の軸」による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7" cy="1975104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1823024"/>
                <a:gridCol w="2251971"/>
                <a:gridCol w="2895391"/>
                <a:gridCol w="2466444"/>
                <a:gridCol w="1072367"/>
              </a:tblGrid>
              <a:tr h="329184">
                <a:tc>
                  <a:txBody>
                    <a:bodyPr/>
                    <a:lstStyle/>
                    <a:p>
                      <a:r>
                        <a:t>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並べるもの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分かること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出どころ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扱う部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意味の三角形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記号、概念、対象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言葉が何を扱うか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Ogden と Richards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意味の連続体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成果物の種類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どれだけ形式的か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Uschold と Gruninger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意味の 4 段階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機械にできること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何ができ、何ができないか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筆者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四本の流れ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取り組みの系譜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誰が何のために進めたか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筆者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共有の範囲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組織内か、組織間か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誰と意味を共有するか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筆者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07、08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四つの言葉は扱う場所が違う</a:t>
            </a:r>
          </a:p>
        </p:txBody>
      </p:sp>
      <p:pic>
        <p:nvPicPr>
          <p:cNvPr id="3" name="Picture Placeholder 2" descr="el-triangl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838143"/>
            <a:ext cx="7007047" cy="433385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四つの言葉</a:t>
            </a:r>
          </a:p>
          <a:p>
            <a:pPr lvl="1"/>
            <a:r>
              <a:t>データモデル: 記号の並べ方を決める</a:t>
            </a:r>
          </a:p>
          <a:p>
            <a:pPr lvl="1"/>
            <a:r>
              <a:t>セマンティクス: 記号が何を表し、何を指すか</a:t>
            </a:r>
          </a:p>
          <a:p>
            <a:pPr lvl="1"/>
            <a:r>
              <a:t>オントロジー: 概念と関係を書き表す</a:t>
            </a:r>
          </a:p>
          <a:p>
            <a:pPr lvl="1"/>
            <a:r>
              <a:t>標準化: それを組織の間でそろえる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  整理の軸と四つの言葉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三角形は Ogden と Richards (1923) の図をもとに作成。頂点の日本語の呼び名と、四つの言葉の位置づけは筆者による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「オントロジー」には三つの用法がある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  整理の軸と四つの言葉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Gruber (1993)、Studer ら (1998)、W3C OWL 2 (2012)、Palantir 公式文書</a:t>
            </a:r>
          </a:p>
        </p:txBody>
      </p:sp>
      <p:sp>
        <p:nvSpPr>
          <p:cNvPr id="6" name="part/card"/>
          <p:cNvSpPr/>
          <p:nvPr/>
        </p:nvSpPr>
        <p:spPr>
          <a:xfrm>
            <a:off x="841248" y="1719072"/>
            <a:ext cx="3401506" cy="1579758"/>
          </a:xfrm>
          <a:prstGeom prst="roundRect">
            <a:avLst>
              <a:gd name="adj" fmla="val 3472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知識工学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概念化の明示的な仕様。Gruber が定義し、Studer らが共有と形式性を加えた形にした</a:t>
            </a:r>
          </a:p>
        </p:txBody>
      </p:sp>
      <p:sp>
        <p:nvSpPr>
          <p:cNvPr id="7" name="part/card"/>
          <p:cNvSpPr/>
          <p:nvPr/>
        </p:nvSpPr>
        <p:spPr>
          <a:xfrm>
            <a:off x="4395094" y="1719072"/>
            <a:ext cx="3401506" cy="1579758"/>
          </a:xfrm>
          <a:prstGeom prst="roundRect">
            <a:avLst>
              <a:gd name="adj" fmla="val 3472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Web 標準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OWL のような言語で書いたもの。日本の ODS の実装もこの用法</a:t>
            </a:r>
          </a:p>
        </p:txBody>
      </p:sp>
      <p:sp>
        <p:nvSpPr>
          <p:cNvPr id="8" name="part/card"/>
          <p:cNvSpPr/>
          <p:nvPr/>
        </p:nvSpPr>
        <p:spPr>
          <a:xfrm>
            <a:off x="7948940" y="1719072"/>
            <a:ext cx="3401506" cy="1579758"/>
          </a:xfrm>
          <a:prstGeom prst="roundRect">
            <a:avLst>
              <a:gd name="adj" fmla="val 3472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製品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Palantir は自社の Ontology を、組織の運用レイヤと定義する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意味には四つの段階がある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先行する整理は成果物の種類を並べる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用語集から形式的なオントロジーまでを、一本の軸に置く</a:t>
            </a:r>
          </a:p>
          <a:p>
            <a:pPr lvl="1"/>
            <a:r>
              <a:t>進むほど形式的になり、自動推論への支援も増す</a:t>
            </a:r>
          </a:p>
          <a:p>
            <a:pPr lvl="1"/>
            <a:r>
              <a:t>ただし、機械にできることを段階に分けてはいない</a:t>
            </a:r>
          </a:p>
        </p:txBody>
      </p:sp>
      <p:pic>
        <p:nvPicPr>
          <p:cNvPr id="4" name="Picture Placeholder 3" descr="el-spectrum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841248" y="1818568"/>
            <a:ext cx="10509199" cy="3184287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Uschold と Gruninger (2004)、McGuinness (2003)。図は Uschold と Gruninger の図をもとに作成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が読み手に加わり、問いが変わった</a:t>
            </a:r>
          </a:p>
        </p:txBody>
      </p:sp>
      <p:pic>
        <p:nvPicPr>
          <p:cNvPr id="3" name="Picture Placeholder 2" descr="dk-readers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344402"/>
            <a:ext cx="7007047" cy="332134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先行する整理は、人が成果物を見分けるためのもの</a:t>
            </a:r>
          </a:p>
          <a:p>
            <a:pPr lvl="1"/>
            <a:r>
              <a:t>近年は、AI も意味の定義の読み手に挙げられる</a:t>
            </a:r>
          </a:p>
          <a:p>
            <a:pPr lvl="1"/>
            <a:r>
              <a:t>問いは「機械はそれで何ができるか」に変わった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Snowflake の OSI 発表文 (2025)、Databricks (2026)。いずれも製品ベンダの説明。軸を加えた理由は筆者の考察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段を上がるほど、機械にできることが増える</a:t>
            </a:r>
          </a:p>
        </p:txBody>
      </p:sp>
      <p:pic>
        <p:nvPicPr>
          <p:cNvPr id="3" name="Picture Placeholder 2" descr="el-ladde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389948"/>
            <a:ext cx="7007047" cy="323024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機械にできることを基準に、四つの段に並べる</a:t>
            </a:r>
          </a:p>
          <a:p>
            <a:pPr lvl="1"/>
            <a:r>
              <a:t>2 段目から 4 段目は積み上がる</a:t>
            </a:r>
          </a:p>
          <a:p>
            <a:pPr lvl="1"/>
            <a:r>
              <a:t>1 段目の検査はどの段のデータにも別に行える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意味の 4 段階は筆者の整理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部品と供給者の例で四つの段を見る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筆者の整理。例は説明用に作成したもの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6" cy="1645919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656824"/>
                <a:gridCol w="2627299"/>
                <a:gridCol w="4203679"/>
                <a:gridCol w="3021394"/>
              </a:tblGrid>
              <a:tr h="329183">
                <a:tc>
                  <a:txBody>
                    <a:bodyPr/>
                    <a:lstStyle/>
                    <a:p>
                      <a:r>
                        <a:t>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機械ができること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代表的な技術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形を検査できる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重量の欄に数値が入っている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Schema、関係モデル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同じものだと分かる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社と B 社の列が、どちらも供給者を指す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RDF と共有の語彙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用語の関係をたどれる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ボルトは締結部品より狭い語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SKOS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定義から導ける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供給者を持つものは調達品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RDF Schema、OWL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並べ直すと、順が入れ替わる</a:t>
            </a:r>
          </a:p>
        </p:txBody>
      </p:sp>
      <p:pic>
        <p:nvPicPr>
          <p:cNvPr id="3" name="Picture Placeholder 2" descr="dk-spectrum-ladde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114921"/>
            <a:ext cx="7007047" cy="3780301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スキーマは 1 段目、シソーラスは 3 段目にあたる</a:t>
            </a:r>
          </a:p>
          <a:p>
            <a:pPr lvl="1"/>
            <a:r>
              <a:t>基準が、形式性から機械にできることへ変わったため</a:t>
            </a:r>
          </a:p>
          <a:p>
            <a:pPr lvl="1"/>
            <a:r>
              <a:t>2 段目にあたるものは、連続体にはない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Uschold と Gruninger (2004)。意味の 4 段階と、二つの対応は筆者の整理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段を上がると、概念まで機械に渡る</a:t>
            </a:r>
          </a:p>
        </p:txBody>
      </p:sp>
      <p:pic>
        <p:nvPicPr>
          <p:cNvPr id="3" name="Picture Placeholder 2" descr="el-triangle-steps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929234"/>
            <a:ext cx="7007047" cy="4151675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段ごとに渡すもの</a:t>
            </a:r>
          </a:p>
          <a:p>
            <a:pPr lvl="1"/>
            <a:r>
              <a:t>1 段目は記号の形だけを決める</a:t>
            </a:r>
          </a:p>
          <a:p>
            <a:pPr lvl="1"/>
            <a:r>
              <a:t>2 段目は記号と概念を結ぶ</a:t>
            </a:r>
          </a:p>
          <a:p>
            <a:pPr lvl="1"/>
            <a:r>
              <a:t>3、4 段目は概念の中身を書く</a:t>
            </a:r>
          </a:p>
          <a:p>
            <a:pPr lvl="1"/>
            <a:r>
              <a:t>概念と対象の対応は機械には渡らない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対応づけは筆者による。原典の図には書かれていない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一つの段に収まらない技術もある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4 段階は、機械にできることを一つずつ切り出したもの</a:t>
            </a:r>
          </a:p>
          <a:p>
            <a:pPr lvl="1"/>
            <a:r>
              <a:t>現実の技術は、その一つだけを担うとは限らない</a:t>
            </a:r>
          </a:p>
        </p:txBody>
      </p:sp>
      <p:pic>
        <p:nvPicPr>
          <p:cNvPr id="4" name="Picture Placeholder 3" descr="dk-not-fit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2053697" y="1719072"/>
            <a:ext cx="8084301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収まらない技術も、どこかの段と関係する</a:t>
            </a:r>
          </a:p>
        </p:txBody>
      </p:sp>
      <p:pic>
        <p:nvPicPr>
          <p:cNvPr id="3" name="Picture Placeholder 2" descr="el-off-ladde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401558" y="1719072"/>
            <a:ext cx="6890730" cy="457200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Palantir と OKF は、下の段を一部ずつ備える</a:t>
            </a:r>
          </a:p>
          <a:p>
            <a:pPr lvl="1"/>
            <a:r>
              <a:t>SHACL は、1 段目の検査をグラフに対して行う</a:t>
            </a:r>
          </a:p>
          <a:p>
            <a:pPr lvl="1"/>
            <a:r>
              <a:t>DCAT は 2 段目の仕組みを使う</a:t>
            </a:r>
          </a:p>
          <a:p>
            <a:pPr lvl="1"/>
            <a:r>
              <a:t>セマンティックレイヤは、1 段目の表の上に載る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03  意味には四つの段階がある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半世紀の取り組みは四本の流れ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四本の流れは始まった時期も目的も違う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分析系の源流は 1991 年の特許にさかのぼれる</a:t>
            </a:r>
          </a:p>
          <a:p>
            <a:pPr lvl="1"/>
            <a:r>
              <a:t>仕様を公開する動きは 2025 年以降に続く</a:t>
            </a:r>
          </a:p>
        </p:txBody>
      </p:sp>
      <p:pic>
        <p:nvPicPr>
          <p:cNvPr id="4" name="Picture Placeholder 3" descr="lineage-deck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1720916" y="1719072"/>
            <a:ext cx="8749862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04  半世紀の取り組みは四本の流れ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年表は筆者の整理。主な出来事だけを示す。各出来事の年は調査報告の年表を参照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流れごとに、目的と得られるものが違う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04  半世紀の取り組みは四本の流れ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7" cy="1645919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1854564"/>
                <a:gridCol w="3214578"/>
                <a:gridCol w="2967303"/>
                <a:gridCol w="2472752"/>
              </a:tblGrid>
              <a:tr h="329183">
                <a:tc>
                  <a:txBody>
                    <a:bodyPr/>
                    <a:lstStyle/>
                    <a:p>
                      <a:r>
                        <a:t>流れ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何のために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得られるもの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代表例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データベース系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データを保存し、共有する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同じ形で使える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関係モデル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知識表現系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知識を計算機に扱わせる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定義から導ける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記述論理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Web 標準系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組織をまたいで意味を共有する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そのまま突き合わせられる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RDF、OWL、DCAT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t>分析系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指標の計算方法をそろえる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どのツールでも同じ数字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セマンティックレイヤ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段目から上は Web 標準系が担う</a:t>
            </a:r>
          </a:p>
        </p:txBody>
      </p:sp>
      <p:pic>
        <p:nvPicPr>
          <p:cNvPr id="3" name="Picture Placeholder 2" descr="el-ladder-streams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790845"/>
            <a:ext cx="7007047" cy="4428453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データベース系は 1 段目。データの形を決める</a:t>
            </a:r>
          </a:p>
          <a:p>
            <a:pPr lvl="1"/>
            <a:r>
              <a:t>2 から 4 段目の代表的な技術は、Web 標準系の仕様</a:t>
            </a:r>
          </a:p>
          <a:p>
            <a:pPr lvl="1"/>
            <a:r>
              <a:t>知識表現系は4 段目の理論を支える</a:t>
            </a:r>
          </a:p>
          <a:p>
            <a:pPr lvl="1"/>
            <a:r>
              <a:t>分析系は別の軸にあり、指標の計算をそろえる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04  半世紀の取り組みは四本の流れ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代表的な技術と標準を見る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RDF はすべてを三つ組で書く</a:t>
            </a:r>
          </a:p>
        </p:txBody>
      </p:sp>
      <p:pic>
        <p:nvPicPr>
          <p:cNvPr id="3" name="Picture Placeholder 2" descr="el-rdf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759569"/>
            <a:ext cx="7007047" cy="2491005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主語、述語、目的語の組で表す</a:t>
            </a:r>
          </a:p>
          <a:p>
            <a:pPr lvl="1"/>
            <a:r>
              <a:t>識別子は Web 全体で一意</a:t>
            </a:r>
          </a:p>
          <a:p>
            <a:pPr lvl="1"/>
            <a:r>
              <a:t>別々に書いたデータを、そのまま足し合わせられる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05  代表的な技術と標準を見る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W3C RDF 1.1 (2014)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OWL は推論し、SHACL は検査する</a:t>
            </a:r>
          </a:p>
        </p:txBody>
      </p:sp>
      <p:pic>
        <p:nvPicPr>
          <p:cNvPr id="3" name="Picture Placeholder 2" descr="dk-owl-shacl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253310"/>
            <a:ext cx="7007047" cy="3503523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OWL は、定義から書かれていないことを導く</a:t>
            </a:r>
          </a:p>
          <a:p>
            <a:pPr lvl="1"/>
            <a:r>
              <a:t>SHACL は、データが条件を満たすかを調べる</a:t>
            </a:r>
          </a:p>
          <a:p>
            <a:pPr lvl="1"/>
            <a:r>
              <a:t>同じデータでも、扱いが分かれる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05  代表的な技術と標準を見る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W3C OWL 2 (2012)、W3C SHACL (2017)。図の例は説明用に作成したもの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指標の定義は一か所に置く</a:t>
            </a:r>
          </a:p>
        </p:txBody>
      </p:sp>
      <p:pic>
        <p:nvPicPr>
          <p:cNvPr id="3" name="Picture Placeholder 2" descr="el-semantic-laye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621180"/>
            <a:ext cx="7007047" cy="2767783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セマンティックレイヤ</a:t>
            </a:r>
          </a:p>
          <a:p>
            <a:pPr lvl="1"/>
            <a:r>
              <a:t>表とツールの間に置く</a:t>
            </a:r>
          </a:p>
          <a:p>
            <a:pPr lvl="1"/>
            <a:r>
              <a:t>指標、ディメンション、結合を定義する</a:t>
            </a:r>
          </a:p>
          <a:p>
            <a:pPr lvl="1"/>
            <a:r>
              <a:t>どのツールでも同じ数字になる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05  代表的な技術と標準を見る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AtScale 用語集、Google Cloud (2024)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標準は形か言葉のどちらかをそろえる</a:t>
            </a:r>
          </a:p>
        </p:txBody>
      </p:sp>
      <p:pic>
        <p:nvPicPr>
          <p:cNvPr id="3" name="Picture Placeholder 2" descr="el-datamodel-map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253310"/>
            <a:ext cx="7007047" cy="3503523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左は項目の並びや型を決める</a:t>
            </a:r>
          </a:p>
          <a:p>
            <a:pPr lvl="1"/>
            <a:r>
              <a:t>右は項目の名前が何を指すかを決める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05  代表的な技術と標準を見る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各標準の出典は調査報告の 7 章。左右の分け方は筆者の整理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業界の標準はオントロジーだけではない</a:t>
            </a:r>
          </a:p>
        </p:txBody>
      </p:sp>
      <p:pic>
        <p:nvPicPr>
          <p:cNvPr id="3" name="Picture Placeholder 2" descr="el-domain-map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160467"/>
            <a:ext cx="7007047" cy="368921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標準の種類</a:t>
            </a:r>
          </a:p>
          <a:p>
            <a:pPr lvl="1"/>
            <a:r>
              <a:t>概念と関係を定義するもの</a:t>
            </a:r>
          </a:p>
          <a:p>
            <a:pPr lvl="1"/>
            <a:r>
              <a:t>言葉や項目をそろえるもの</a:t>
            </a:r>
          </a:p>
          <a:p>
            <a:pPr lvl="1"/>
            <a:r>
              <a:t>やり取りの形を決めるもの</a:t>
            </a:r>
          </a:p>
          <a:p>
            <a:pPr lvl="1"/>
            <a:r>
              <a:t>分野を問わない上位と中位がある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05  代表的な技術と標準を見る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種類の分け方は、各団体の自己記述をもとにした筆者の整理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近年の米国企業の動き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米国企業の動きは五つに分けて見る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筆者の整理。3 から 5 は分析系の流れに属する。以下、この順に説明する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7" cy="1975104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510155"/>
                <a:gridCol w="2040621"/>
                <a:gridCol w="2244683"/>
                <a:gridCol w="2652807"/>
                <a:gridCol w="3060931"/>
              </a:tblGrid>
              <a:tr h="329184">
                <a:tc>
                  <a:txBody>
                    <a:bodyPr/>
                    <a:lstStyle/>
                    <a:p>
                      <a:r>
                        <a:t>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動き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狙い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意味の 4 段階との関係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知識グラフ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Google、Wikidata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事物と関係をグラフで持つ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RDF で書けば 2 段目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製品のオントロジー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Palantir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データを業務の操作と結ぶ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またがる。1 段目から 3 段目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セマンティックレイヤ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Looker、Power BI、dbt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指標の定義を一か所に置く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別の軸にある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交換のための仕様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OSI、Apache Ossie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定義をツールの間でそろえる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別の軸から、意味の定義へ広がる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文脈を渡す形式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知識を文章のまま AI に渡す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またがる。下の段を薄く備える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知識グラフは事物と関係をグラフで持つ</a:t>
            </a:r>
          </a:p>
        </p:txBody>
      </p:sp>
      <p:pic>
        <p:nvPicPr>
          <p:cNvPr id="3" name="Picture Placeholder 2" descr="ext-wikidata-datamodel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665611" y="1719072"/>
            <a:ext cx="6362624" cy="457200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Google は 2012 年に、文字列ではなく事物を扱うと紹介した</a:t>
            </a:r>
          </a:p>
          <a:p>
            <a:pPr lvl="1"/>
            <a:r>
              <a:t>Wikidata は、値に修飾子と情報源を付けて記録する</a:t>
            </a:r>
          </a:p>
          <a:p>
            <a:pPr lvl="1"/>
            <a:r>
              <a:t>GraphRAG は、言語モデルと知識グラフを組み合わせる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Google (2012)、Wikidata、Microsoft Research (2024)。図: Charlie Kritschmar (WMDE), Datamodel in Wikidata, Wikimedia Commons, CC0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Palantir は業務を物と関係で表す</a:t>
            </a:r>
          </a:p>
        </p:txBody>
      </p:sp>
      <p:pic>
        <p:nvPicPr>
          <p:cNvPr id="3" name="Picture Placeholder 2" descr="el-palanti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838143"/>
            <a:ext cx="7007047" cy="433385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箱がオブジェクト型、矢印がリンク型</a:t>
            </a:r>
          </a:p>
          <a:p>
            <a:pPr lvl="1"/>
            <a:r>
              <a:t>各オブジェクト型はプロパティを持つ</a:t>
            </a:r>
          </a:p>
          <a:p>
            <a:pPr lvl="1"/>
            <a:r>
              <a:t>これに、アクションや関数が加わる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Palantir の公式文書の図をもとに作成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Palantir は推論より操作を重んじる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Palantir Foundry 公式文書。「見当たらない」は約 180 ページを検索した結果で、存在しないことの証明ではない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8" cy="1645919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2306897"/>
                <a:gridCol w="5639082"/>
                <a:gridCol w="2563219"/>
              </a:tblGrid>
              <a:tr h="329183">
                <a:tc>
                  <a:txBody>
                    <a:bodyPr/>
                    <a:lstStyle/>
                    <a:p>
                      <a:r>
                        <a:t>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Palantir の Ontology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判定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1 形の検査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必須プロパティ、値の制約、主キーの一意性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備える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2 同じものと分かる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複数のデータ源を共通のオブジェクトに対応づける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一つの基盤の中で備える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3 用語の関係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インターフェースの継承。用語の上下関係ではない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一部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t>4 定義から導く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派生プロパティは計算、関数はコード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見当たらない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分析系が意味の定義へ広がり始めた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源流は別の課題。Web 標準系の代わりではない</a:t>
            </a:r>
          </a:p>
          <a:p>
            <a:pPr lvl="1"/>
            <a:r>
              <a:t>2025 年以降、基盤の事業者が開かれた仕様を次々に出した</a:t>
            </a:r>
          </a:p>
          <a:p>
            <a:pPr lvl="1"/>
            <a:r>
              <a:t>成熟度は低いが、利用者を持つ側からの動きである</a:t>
            </a:r>
          </a:p>
        </p:txBody>
      </p:sp>
      <p:pic>
        <p:nvPicPr>
          <p:cNvPr id="4" name="Picture Placeholder 3" descr="el-two-streams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2678393" y="1719072"/>
            <a:ext cx="6834909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米国特許 5,555,403、Stancil (2021)、Snowflake (2025、2026)、Google Cloud (2026)。三つ目は筆者の考察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OSI は一年足らずで Apache Ossie になった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Snowflake 発表文 (2025)、Snowflake ブログ (2026)、Apache Incubator、Apache Ossie ブログ (2026)</a:t>
            </a:r>
          </a:p>
        </p:txBody>
      </p:sp>
      <p:sp>
        <p:nvSpPr>
          <p:cNvPr id="6" name="part/step"/>
          <p:cNvSpPr/>
          <p:nvPr/>
        </p:nvSpPr>
        <p:spPr>
          <a:xfrm>
            <a:off x="841248" y="1719072"/>
            <a:ext cx="2341664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0B7A5C"/>
                </a:solidFill>
                <a:latin typeface="Yu Gothic Medium"/>
                <a:cs typeface="Yu Gothic Medium"/>
                <a:ea typeface="Yu Gothic Medium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2025 年 9 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OSI を発表</a:t>
            </a:r>
          </a:p>
        </p:txBody>
      </p:sp>
      <p:sp>
        <p:nvSpPr>
          <p:cNvPr id="7" name="part/arrow"/>
          <p:cNvSpPr/>
          <p:nvPr/>
        </p:nvSpPr>
        <p:spPr>
          <a:xfrm rot="5400000">
            <a:off x="3312400" y="2252496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t/step"/>
          <p:cNvSpPr/>
          <p:nvPr/>
        </p:nvSpPr>
        <p:spPr>
          <a:xfrm>
            <a:off x="3563759" y="1719072"/>
            <a:ext cx="2341664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0B7A5C"/>
                </a:solidFill>
                <a:latin typeface="Yu Gothic Medium"/>
                <a:cs typeface="Yu Gothic Medium"/>
                <a:ea typeface="Yu Gothic Medium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2026 年 1 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最初の仕様を公開</a:t>
            </a:r>
          </a:p>
        </p:txBody>
      </p:sp>
      <p:sp>
        <p:nvSpPr>
          <p:cNvPr id="9" name="part/arrow"/>
          <p:cNvSpPr/>
          <p:nvPr/>
        </p:nvSpPr>
        <p:spPr>
          <a:xfrm rot="5400000">
            <a:off x="6034911" y="2252496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t/step"/>
          <p:cNvSpPr/>
          <p:nvPr/>
        </p:nvSpPr>
        <p:spPr>
          <a:xfrm>
            <a:off x="6286271" y="1719072"/>
            <a:ext cx="2341664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0B7A5C"/>
                </a:solidFill>
                <a:latin typeface="Yu Gothic Medium"/>
                <a:cs typeface="Yu Gothic Medium"/>
                <a:ea typeface="Yu Gothic Medium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2026 年 6 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Incubator 入り</a:t>
            </a:r>
          </a:p>
        </p:txBody>
      </p:sp>
      <p:sp>
        <p:nvSpPr>
          <p:cNvPr id="11" name="part/arrow"/>
          <p:cNvSpPr/>
          <p:nvPr/>
        </p:nvSpPr>
        <p:spPr>
          <a:xfrm rot="5400000">
            <a:off x="8757423" y="2252496"/>
            <a:ext cx="121871" cy="121871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t/step"/>
          <p:cNvSpPr/>
          <p:nvPr/>
        </p:nvSpPr>
        <p:spPr>
          <a:xfrm>
            <a:off x="9008782" y="1719072"/>
            <a:ext cx="2341664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339" rIns="152339" tIns="152339" bIns="152339"/>
          <a:lstStyle/>
          <a:p>
            <a:pPr algn="l">
              <a:spcAft>
                <a:spcPts val="300"/>
              </a:spcAft>
              <a:buNone/>
            </a:pPr>
            <a:r>
              <a:rPr sz="1300" b="1">
                <a:solidFill>
                  <a:srgbClr val="0B7A5C"/>
                </a:solidFill>
                <a:latin typeface="Yu Gothic Medium"/>
                <a:cs typeface="Yu Gothic Medium"/>
                <a:ea typeface="Yu Gothic Medium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8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2026 年 7 月</a:t>
            </a:r>
          </a:p>
          <a:p>
            <a:pPr algn="l">
              <a:lnSpc>
                <a:spcPct val="125000"/>
              </a:lnSpc>
              <a:buNone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改称を公表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Ossie は二つの相手に近づいている</a:t>
            </a:r>
          </a:p>
        </p:txBody>
      </p:sp>
      <p:pic>
        <p:nvPicPr>
          <p:cNvPr id="3" name="Picture Placeholder 2" descr="dk-ossie-two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253310"/>
            <a:ext cx="7007047" cy="3503523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先例に挙げるのは、製品のオントロジー</a:t>
            </a:r>
          </a:p>
          <a:p>
            <a:pPr lvl="1"/>
            <a:r>
              <a:t>仕様が関連づけるのは、RDF や OWL の語彙</a:t>
            </a:r>
          </a:p>
          <a:p>
            <a:pPr lvl="1"/>
            <a:r>
              <a:t>ただし、公式な説明はオントロジーに触れていない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Apache Ossie のコミュニティ更新、ロードマップ、オントロジー仕様 (2026)、Apache Incubator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OKF は知識を文章のまま渡す</a:t>
            </a:r>
          </a:p>
        </p:txBody>
      </p:sp>
      <p:pic>
        <p:nvPicPr>
          <p:cNvPr id="3" name="Picture Placeholder 2" descr="dk-okf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206013"/>
            <a:ext cx="7007047" cy="359811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1 概念を 1 つの Markdown で表す</a:t>
            </a:r>
          </a:p>
          <a:p>
            <a:pPr lvl="1"/>
            <a:r>
              <a:t>型、URI、リンクは機械が読める</a:t>
            </a:r>
          </a:p>
          <a:p>
            <a:pPr lvl="1"/>
            <a:r>
              <a:t>語彙は登録せず、関係の種類は文章が伝える</a:t>
            </a:r>
          </a:p>
          <a:p>
            <a:pPr lvl="1"/>
            <a:r>
              <a:t>Ossie との違いは、どこまでを構造にするか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06  近年の米国企業の動き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Google Cloud ブログ (2026)、Open Knowledge Format 仕様 0.2 版。二つに分けて見るのは筆者の整理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データスペースとの接点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意味は相互運用性の四層の一つである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 lvl="1"/>
            <a:r>
              <a:t>この資料が扱うのは意味的な層</a:t>
            </a:r>
          </a:p>
          <a:p>
            <a:pPr lvl="1"/>
            <a:r>
              <a:t>日本の ODS-RAM も、4 レイヤの一つにセマンティクスを置く</a:t>
            </a:r>
          </a:p>
        </p:txBody>
      </p:sp>
      <p:pic>
        <p:nvPicPr>
          <p:cNvPr id="4" name="Picture Placeholder 3" descr="el-eif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2202545" y="1719072"/>
            <a:ext cx="7786605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07  データスペースとの接点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欧州相互運用性フレームワーク (2017) の図 3 をもとに作成。日本語の名称は筆者の訳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規範はグラフから文書の形へ移った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/>
            <a:r>
              <a:t>版ごとの違い</a:t>
            </a:r>
          </a:p>
          <a:p>
            <a:pPr lvl="1"/>
            <a:r>
              <a:t>2024-1 版は、JSON-LD として扱うことを求めた</a:t>
            </a:r>
          </a:p>
          <a:p>
            <a:pPr lvl="1"/>
            <a:r>
              <a:t>2025-1 版は、JSON Schema に合うことを求めた</a:t>
            </a:r>
          </a:p>
          <a:p>
            <a:pPr lvl="1"/>
            <a:r>
              <a:t>語彙は残り、意味を捨てたわけではない</a:t>
            </a:r>
          </a:p>
        </p:txBody>
      </p:sp>
      <p:pic>
        <p:nvPicPr>
          <p:cNvPr id="4" name="Picture Placeholder 3" descr="el-dsp-norm.png"/>
          <p:cNvPicPr>
            <a:picLocks noGrp="1" noChangeAspect="1"/>
          </p:cNvPicPr>
          <p:nvPr>
            <p:ph type="pic" idx="23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2202545" y="1719072"/>
            <a:ext cx="7786605" cy="3383280"/>
          </a:xfrm>
        </p:spPr>
      </p:pic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07  データスペースとの接点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IDS-RAM 4.0、Dataspace Protocol 2024-1 と 2025-1。意味の 4 段階での位置は筆者の整理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プロトコルと ODS は規範の段が違う</a:t>
            </a:r>
          </a:p>
        </p:txBody>
      </p:sp>
      <p:pic>
        <p:nvPicPr>
          <p:cNvPr id="3" name="Picture Placeholder 2" descr="el-dsp-ods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838143"/>
            <a:ext cx="7007047" cy="433385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プロトコルの規範は 1 段目</a:t>
            </a:r>
          </a:p>
          <a:p>
            <a:pPr lvl="1"/>
            <a:r>
              <a:t>ODS の規範は 2 段目の RDF</a:t>
            </a:r>
          </a:p>
          <a:p>
            <a:pPr lvl="1"/>
            <a:r>
              <a:t>ODS の OWL は設計思想での採用で、規範的な要件は未確認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07  データスペースとの接点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Dataspace Protocol 2025-1、ODS のプロトコル仕様、IPA「Why Open Dataspaces」(2026)。対比は筆者の整理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ODS の実装は定義から AI の道具を作る</a:t>
            </a:r>
          </a:p>
        </p:txBody>
      </p:sp>
      <p:pic>
        <p:nvPicPr>
          <p:cNvPr id="3" name="Picture Placeholder 2" descr="el-ods-oss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2160467"/>
            <a:ext cx="7007047" cy="368921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オントロジーは二層に分かれる</a:t>
            </a:r>
          </a:p>
          <a:p>
            <a:pPr lvl="1"/>
            <a:r>
              <a:t>分散カタログが RDF データを集める</a:t>
            </a:r>
          </a:p>
          <a:p>
            <a:pPr lvl="1"/>
            <a:r>
              <a:t>意味定義から、AI が使う MCP ツールを作る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07  データスペースとの接点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open-dataspaces (GitHub) の各リポジトリ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全体像と使い分け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取り組みは段と共有の範囲で位置づく</a:t>
            </a:r>
          </a:p>
        </p:txBody>
      </p:sp>
      <p:pic>
        <p:nvPicPr>
          <p:cNvPr id="3" name="Picture Placeholder 2" descr="el-map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07260" y="1719072"/>
            <a:ext cx="6679327" cy="457200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2 段目以上を掲げる取り組みは、組織をまたぐ側に集まる</a:t>
            </a:r>
          </a:p>
          <a:p>
            <a:pPr lvl="1"/>
            <a:r>
              <a:t>組織内の取り組みは1 段目とその周辺が中心</a:t>
            </a:r>
          </a:p>
          <a:p>
            <a:pPr lvl="1"/>
            <a:r>
              <a:t>組織間でも、規範に置く段は違う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08  全体像と使い分け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配置の根拠は調査報告の 5 章、9 章、10 章の表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どれを使うかは解く課題で決まる</a:t>
            </a:r>
          </a:p>
        </p:txBody>
      </p:sp>
      <p:pic>
        <p:nvPicPr>
          <p:cNvPr id="3" name="Picture Placeholder 2" descr="el-choos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343400" y="1838143"/>
            <a:ext cx="7007047" cy="4333858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lvl="1"/>
            <a:r>
              <a:t>したいことから始め、条件で枝分かれする</a:t>
            </a:r>
          </a:p>
          <a:p>
            <a:pPr lvl="1"/>
            <a:r>
              <a:t>条件は、機械にさせたいことと、共有の範囲</a:t>
            </a:r>
          </a:p>
          <a:p>
            <a:pPr lvl="1"/>
            <a:r>
              <a:t>候補は組み合わせて使う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08  全体像と使い分け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筆者の整理。W3C Data on the Web Best Practices (2017) の指針を、本調査の知見で組み替えた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公の指針を調査の知見で組み替えた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08  全体像と使い分け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出典: W3C Data on the Web Best Practices (2017)。組み替えは筆者による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7" cy="1645919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2266689"/>
                <a:gridCol w="4121254"/>
                <a:gridCol w="4121254"/>
              </a:tblGrid>
              <a:tr h="329183">
                <a:tc>
                  <a:txBody>
                    <a:bodyPr/>
                    <a:lstStyle/>
                    <a:p>
                      <a:r>
                        <a:t>問い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W3C の勧告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この木での組み替え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どの水準を選ぶか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形式的な意味の水準を、データと用途に合わせる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形式性ではなく、機械にさせたいことで選ぶ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何をしたいか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問いとして立てていない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最初の枝分かれにした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誰と共有するか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 への公開が前提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組織の中か、組織をまたぐかを条件にした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t>誰が読むか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人とプログラム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を加え、構造か文章かを条件にした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迷ったら、四つの問いに戻る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08  全体像と使い分け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筆者の整理。例は説明用に作成したもの。もとになった知見は調査報告の 11 章に示した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9197" cy="1645919"/>
        </p:xfrm>
        <a:graphic>
          <a:graphicData uri="http://schemas.openxmlformats.org/drawingml/2006/table">
            <a:tbl>
              <a:tblPr firstRow="1" bandRow="1">
                <a:tableStyleId>{6D0BA5C1-51A0-4E2B-9B7E-0B7A5C000001}</a:tableStyleId>
              </a:tblPr>
              <a:tblGrid>
                <a:gridCol w="2829399"/>
                <a:gridCol w="2930449"/>
                <a:gridCol w="4749349"/>
              </a:tblGrid>
              <a:tr h="329183">
                <a:tc>
                  <a:txBody>
                    <a:bodyPr/>
                    <a:lstStyle/>
                    <a:p>
                      <a:r>
                        <a:t>問い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部品と供給者の例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機械に、どこまでさせたいか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足りるところで止める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数値が入っているかを確かめるだけなら、形の検査（JSON Schema）で足りる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書かれていないことを、どう扱うか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誤りにするなら検査、不明でよいなら推論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供給者のない部品を止めたいなら検査（SHACL）。不明として残すなら定義の言語（OWL）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t>AI に、何を任せるか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間違えると困るものは、定義で渡す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「売上」の計算方法は定義（セマンティックレイヤ）で、注意や経緯は文章（OKF）で渡す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t>誰と、やり取りするか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別の組織となら、標準の形式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社内の一つの基盤なら製品の機能でよい。取引先となら共通の識別子と語彙（RDF）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確認できなかった点と次に読むもの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ISO/IEC 11179 と ISO 15926 の発行年は、一次情報を取得できなかった</a:t>
            </a:r>
          </a:p>
          <a:p>
            <a:pPr/>
            <a:r>
              <a:t>Microsoft と Google の OSI への関与は確認できていない</a:t>
            </a:r>
          </a:p>
          <a:p>
            <a:pPr/>
            <a:r>
              <a:t>ODS が OWL を規範として求めるかは、仕様の文書では確認できなかった</a:t>
            </a:r>
          </a:p>
          <a:p>
            <a:pPr/>
            <a:r>
              <a:t>米国企業の動きは当事者の発表に依拠している</a:t>
            </a:r>
          </a:p>
          <a:p>
            <a:pPr/>
            <a:r>
              <a:t>各技術の例と図、出典の一覧は調査報告にある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08  全体像と使い分け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t>© 2026 Masaru Dobashi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bashi Simple">
  <a:themeElements>
    <a:clrScheme name="Office">
      <a:dk1>
        <a:srgbClr val="1A1A1A"/>
      </a:dk1>
      <a:lt1>
        <a:srgbClr val="FFFFFF"/>
      </a:lt1>
      <a:dk2>
        <a:srgbClr val="6B7280"/>
      </a:dk2>
      <a:lt2>
        <a:srgbClr val="F1F5F3"/>
      </a:lt2>
      <a:accent1>
        <a:srgbClr val="0B7A5C"/>
      </a:accent1>
      <a:accent2>
        <a:srgbClr val="0A3D30"/>
      </a:accent2>
      <a:accent3>
        <a:srgbClr val="7FD1B5"/>
      </a:accent3>
      <a:accent4>
        <a:srgbClr val="6B7280"/>
      </a:accent4>
      <a:accent5>
        <a:srgbClr val="D5DBD8"/>
      </a:accent5>
      <a:accent6>
        <a:srgbClr val="1A1A1A"/>
      </a:accent6>
      <a:hlink>
        <a:srgbClr val="0B7A5C"/>
      </a:hlink>
      <a:folHlink>
        <a:srgbClr val="6B7280"/>
      </a:folHlink>
    </a:clrScheme>
    <a:fontScheme name="Office">
      <a:majorFont>
        <a:latin typeface="Yu Gothic Medium"/>
        <a:ea typeface="Yu Gothic Medium"/>
        <a:cs typeface=""/>
        <a:font script="Jpan" typeface="Yu Gothic Medium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Masaru Dobashi</dc:creator>
  <cp:keywords/>
  <dc:description>generated using python-pptx</dc:description>
  <cp:lastModifiedBy>Masaru Dobashi</cp:lastModifiedBy>
  <cp:revision>1</cp:revision>
  <dcterms:created xsi:type="dcterms:W3CDTF">2013-01-27T09:14:16Z</dcterms:created>
  <dcterms:modified xsi:type="dcterms:W3CDTF">2013-01-27T09:15:58Z</dcterms:modified>
  <cp:category/>
</cp:coreProperties>
</file>